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Presentazione del mio sito personale, realizzato per il progetto HTML &amp; CSS. Vi racconto le scelte di design prima di quelle tecniche: a chi parla, come è organizzato, come si è evoluto.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traccia lasciava libertà sui contenuti ma fissava undici vincoli tecnici. Il più interessante per me: solo HTML e CSS, niente JavaScript. Mi ha costretta a trovare soluzioni CSS per cose che di solito si fanno con il codice, come il menu mobile e il tema scuro.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 di disegnare mi sono chiesta chi avrebbe aperto il sito. La risposta ha deciso la gerarchia: prima chi sono, poi cosa so fare, sempre a portata di mano il modo per contattarmi.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L'architettura è volutamente piatta: ogni pagina è raggiungibile in un clic dalla home e dal menu. La pagina Grazie non è nel menu: compare solo dopo l'invio del modulo.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prima versione aveva tutto: animazioni, gradienti, una striscia scorrevole. Era tecnicamente ricca ma comunicava poco. Ho tolto finché ogni elemento aveva un motivo per esserci, poi ho aggiunto calore con pochi gesti, e solo alla fine ho fissato colori e caratteri.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 lavorato con due palette distinte invece di invertire i colori. Nel codice i colori stanno in un file, i ruoli (testo, sfondo, bordo) in un altro: per cambiare tinta basta toccare un punto solo. Ogni combinazione di testo e sfondo è stata misurata per la leggibilità.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contrasto fra un carattere con grazie e uno senza grazie crea gerarchia senza bisogno di tante dimensioni diverse. Entrambi sono gratuiti su Google Fonts e si caricano con un solo collegamento.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L'interruttore è una casella di spunta nascosta. Il selettore CSS :has() permette all'intera pagina di reagire al suo stato. Di base il sito segue il tema del sistema operativo; l'interruttore lo inverte. Limite onesto: senza JavaScript la scelta non viene ricordata cambiando pagina.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Sono dettagli che chi visita il sito nota senza saperli nominare. Le onde ammorbidiscono il passaggio fra sezioni. Il menu mobile, la validazione del modulo e il tema scuro funzionano tutti senza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 progettato partendo dal telefono, che è dove la maggior parte delle persone aprirà il link. Ho controllato ogni pagina a 320, 375, 768, 1024 e 1440 pixel: nessuna sborda di lato.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 uno sfondo lilla è facile scendere sotto la soglia senza accorgersene: le didascalie all'inizio erano a 3.9:1. Le ho scurite fino a 4.75:1, che è il valore più basso di tutto il 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fogli di stile sono scritti in Sass e divisi per argomento: colori, tipografia, componenti, pagine. Sass li unisce in un unico file CSS, così il browser fa una richiesta sola. Formspree è il servizio che farà arrivare i messaggi del modulo via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problemi reali incontrati durante il lavoro. Il primo si vedeva solo scorrendo la pagina, ed è stato il più istruttivo: in CSS conta anche la priorità delle regole, non solo il loro ordine.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sito è completo nella struttura e nel design. Mancano i contenuti che dipendono da me: la foto, i progetti, i profili social. Poi lo pubblico su GitHub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Chiudo con la pagina contatti, che è anche il punto d'arrivo di tutto il 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image" Target="../media/image-2-1.png"/><Relationship Id="rId7" Type="http://schemas.openxmlformats.org/officeDocument/2006/relationships/image" Target="../media/image-2-1.png"/><Relationship Id="rId8" Type="http://schemas.openxmlformats.org/officeDocument/2006/relationships/image" Target="../media/image-2-1.png"/><Relationship Id="rId9" Type="http://schemas.openxmlformats.org/officeDocument/2006/relationships/image" Target="../media/image-2-1.png"/><Relationship Id="rId10" Type="http://schemas.openxmlformats.org/officeDocument/2006/relationships/image" Target="../media/image-2-1.png"/><Relationship Id="rId11" Type="http://schemas.openxmlformats.org/officeDocument/2006/relationships/image" Target="../media/image-2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ke2\AppData\Local\Temp\claude\C--Users-mike2-Desktop-Progetto-HTML-CSS\af47ebcf-3447-46c2-8265-3012f55f80d0\scratchpad\deck\assets\onda-sc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327"/>
            <a:ext cx="12191695" cy="164567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1325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b="1" spc="300" kern="0" dirty="0">
                <a:solidFill>
                  <a:srgbClr val="93A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HTML &amp; CSS</a:t>
            </a:r>
            <a:endParaRPr lang="it-IT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169164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it-IT" altLang="en-US" sz="4600" b="1" dirty="0">
                <a:solidFill>
                  <a:srgbClr val="ECE4F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Il mio portfolio,</a:t>
            </a:r>
            <a:endParaRPr lang="it-IT" sz="4600" dirty="0"/>
          </a:p>
          <a:p>
            <a:pPr indent="0" marL="0">
              <a:lnSpc>
                <a:spcPct val="95000"/>
              </a:lnSpc>
              <a:buNone/>
            </a:pPr>
            <a:r>
              <a:rPr lang="it-IT" altLang="en-US" sz="4600" b="1" dirty="0">
                <a:solidFill>
                  <a:srgbClr val="BFA6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dall'idea al sito</a:t>
            </a:r>
            <a:endParaRPr lang="it-IT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800" dirty="0">
                <a:solidFill>
                  <a:srgbClr val="BFA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Marianita Di Leo · UX/UI designer</a:t>
            </a:r>
            <a:endParaRPr lang="it-IT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4041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dirty="0">
                <a:solidFill>
                  <a:srgbClr val="93A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 UX/UI Design · start2impact</a:t>
            </a:r>
            <a:endParaRPr lang="it-IT" sz="1300" dirty="0"/>
          </a:p>
        </p:txBody>
      </p:sp>
      <p:pic>
        <p:nvPicPr>
          <p:cNvPr id="7" name="Image 1" descr="La home page del sito nel tema scu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502920"/>
            <a:ext cx="6537960" cy="44863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BRIEF</a:t>
            </a:r>
            <a:endParaRPr lang="it-IT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36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Cosa chiedeva il progetto</a:t>
            </a:r>
            <a:endParaRPr lang="it-IT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5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sito personale per presentarmi a chi potrebbe volermi nel suo team, con vincoli tecnici precisi. Eccoli tutti.</a:t>
            </a:r>
            <a:endParaRPr lang="it-IT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2578608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51760"/>
            <a:ext cx="438912" cy="43891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7" name="Image 0" descr="C:\Users\mike2\AppData\Local\Temp\claude\C--Users-mike2-Desktop-Progetto-HTML-CSS\af47ebcf-3447-46c2-8265-3012f55f80d0\scratchpad\deck\assets\ico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579" y="2757099"/>
            <a:ext cx="228234" cy="22823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4168" y="2569464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5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HTML e CSS</a:t>
            </a:r>
            <a:endParaRPr lang="it-IT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44168" y="2898648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riga di JavaScript</a:t>
            </a:r>
            <a:endParaRPr lang="it-IT" sz="1200" dirty="0"/>
          </a:p>
        </p:txBody>
      </p:sp>
      <p:sp>
        <p:nvSpPr>
          <p:cNvPr id="10" name="Shape 7"/>
          <p:cNvSpPr/>
          <p:nvPr/>
        </p:nvSpPr>
        <p:spPr>
          <a:xfrm>
            <a:off x="3401568" y="2331720"/>
            <a:ext cx="2578608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84448" y="2651760"/>
            <a:ext cx="438912" cy="43891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12" name="Image 1" descr="C:\Users\mike2\AppData\Local\Temp\claude\C--Users-mike2-Desktop-Progetto-HTML-CSS\af47ebcf-3447-46c2-8265-3012f55f80d0\scratchpad\deck\assets\ico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787" y="2757099"/>
            <a:ext cx="228234" cy="22823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51376" y="2569464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5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Almeno due pagine</a:t>
            </a:r>
            <a:endParaRPr lang="it-IT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151376" y="2898648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ho realizzate cinque</a:t>
            </a:r>
            <a:endParaRPr lang="it-IT" sz="1200" dirty="0"/>
          </a:p>
        </p:txBody>
      </p:sp>
      <p:sp>
        <p:nvSpPr>
          <p:cNvPr id="15" name="Shape 11"/>
          <p:cNvSpPr/>
          <p:nvPr/>
        </p:nvSpPr>
        <p:spPr>
          <a:xfrm>
            <a:off x="6208776" y="2331720"/>
            <a:ext cx="2578608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91656" y="2651760"/>
            <a:ext cx="438912" cy="43891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17" name="Image 2" descr="C:\Users\mike2\AppData\Local\Temp\claude\C--Users-mike2-Desktop-Progetto-HTML-CSS\af47ebcf-3447-46c2-8265-3012f55f80d0\scratchpad\deck\assets\ico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995" y="2757099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58584" y="2569464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5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in HTML</a:t>
            </a:r>
            <a:endParaRPr lang="it-IT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958584" y="2898648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Stampabile anche in PDF</a:t>
            </a:r>
            <a:endParaRPr lang="it-IT" sz="1200" dirty="0"/>
          </a:p>
        </p:txBody>
      </p:sp>
      <p:sp>
        <p:nvSpPr>
          <p:cNvPr id="20" name="Shape 15"/>
          <p:cNvSpPr/>
          <p:nvPr/>
        </p:nvSpPr>
        <p:spPr>
          <a:xfrm>
            <a:off x="9015984" y="2331720"/>
            <a:ext cx="2578608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98864" y="2651760"/>
            <a:ext cx="438912" cy="43891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22" name="Image 3" descr="C:\Users\mike2\AppData\Local\Temp\claude\C--Users-mike2-Desktop-Progetto-HTML-CSS\af47ebcf-3447-46c2-8265-3012f55f80d0\scratchpad\deck\assets\ico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203" y="2757099"/>
            <a:ext cx="228234" cy="22823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765792" y="2569464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5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contatti</a:t>
            </a:r>
            <a:endParaRPr lang="it-IT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765792" y="2898648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modulo e campi obbligatori</a:t>
            </a:r>
            <a:endParaRPr lang="it-IT" sz="1200" dirty="0"/>
          </a:p>
        </p:txBody>
      </p:sp>
      <p:sp>
        <p:nvSpPr>
          <p:cNvPr id="25" name="Shape 19"/>
          <p:cNvSpPr/>
          <p:nvPr/>
        </p:nvSpPr>
        <p:spPr>
          <a:xfrm>
            <a:off x="594360" y="3630168"/>
            <a:ext cx="2578608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7240" y="3950208"/>
            <a:ext cx="438912" cy="43891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27" name="Image 4" descr="C:\Users\mike2\AppData\Local\Temp\claude\C--Users-mike2-Desktop-Progetto-HTML-CSS\af47ebcf-3447-46c2-8265-3012f55f80d0\scratchpad\deck\assets\ico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579" y="4055547"/>
            <a:ext cx="228234" cy="22823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44168" y="3867912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5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framework</a:t>
            </a:r>
            <a:endParaRPr lang="it-IT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1344168" y="4197096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</a:t>
            </a:r>
            <a:endParaRPr lang="it-IT" sz="1200" dirty="0"/>
          </a:p>
        </p:txBody>
      </p:sp>
      <p:sp>
        <p:nvSpPr>
          <p:cNvPr id="30" name="Shape 23"/>
          <p:cNvSpPr/>
          <p:nvPr/>
        </p:nvSpPr>
        <p:spPr>
          <a:xfrm>
            <a:off x="3401568" y="3630168"/>
            <a:ext cx="2578608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584448" y="3950208"/>
            <a:ext cx="438912" cy="43891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32" name="Image 5" descr="C:\Users\mike2\AppData\Local\Temp\claude\C--Users-mike2-Desktop-Progetto-HTML-CSS\af47ebcf-3447-46c2-8265-3012f55f80d0\scratchpad\deck\assets\ico-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9787" y="4055547"/>
            <a:ext cx="228234" cy="22823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151376" y="3867912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5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favicon</a:t>
            </a:r>
            <a:endParaRPr lang="it-IT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4151376" y="4197096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monogramma "M"</a:t>
            </a:r>
            <a:endParaRPr lang="it-IT" sz="1200" dirty="0"/>
          </a:p>
        </p:txBody>
      </p:sp>
      <p:sp>
        <p:nvSpPr>
          <p:cNvPr id="35" name="Shape 27"/>
          <p:cNvSpPr/>
          <p:nvPr/>
        </p:nvSpPr>
        <p:spPr>
          <a:xfrm>
            <a:off x="6208776" y="3630168"/>
            <a:ext cx="2578608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391656" y="3950208"/>
            <a:ext cx="438912" cy="43891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37" name="Image 6" descr="C:\Users\mike2\AppData\Local\Temp\claude\C--Users-mike2-Desktop-Progetto-HTML-CSS\af47ebcf-3447-46c2-8265-3012f55f80d0\scratchpad\deck\assets\ico-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995" y="4055547"/>
            <a:ext cx="228234" cy="228234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958584" y="3867912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5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sticky</a:t>
            </a:r>
            <a:endParaRPr lang="it-IT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6958584" y="4197096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Fisso su ogni formato</a:t>
            </a:r>
            <a:endParaRPr lang="it-IT" sz="1200" dirty="0"/>
          </a:p>
        </p:txBody>
      </p:sp>
      <p:sp>
        <p:nvSpPr>
          <p:cNvPr id="40" name="Shape 31"/>
          <p:cNvSpPr/>
          <p:nvPr/>
        </p:nvSpPr>
        <p:spPr>
          <a:xfrm>
            <a:off x="9015984" y="3630168"/>
            <a:ext cx="2578608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198864" y="3950208"/>
            <a:ext cx="438912" cy="43891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42" name="Image 7" descr="C:\Users\mike2\AppData\Local\Temp\claude\C--Users-mike2-Desktop-Progetto-HTML-CSS\af47ebcf-3447-46c2-8265-3012f55f80d0\scratchpad\deck\assets\ico-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4203" y="4055547"/>
            <a:ext cx="228234" cy="22823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765792" y="3867912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5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o Grid</a:t>
            </a:r>
            <a:endParaRPr lang="it-IT" sz="1500" dirty="0"/>
          </a:p>
        </p:txBody>
      </p:sp>
      <p:sp>
        <p:nvSpPr>
          <p:cNvPr id="44" name="Text 34"/>
          <p:cNvSpPr txBox="1"/>
          <p:nvPr/>
        </p:nvSpPr>
        <p:spPr>
          <a:xfrm>
            <a:off x="9765792" y="4197096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ho usati tutti e due</a:t>
            </a:r>
            <a:endParaRPr lang="it-IT" sz="1200" dirty="0"/>
          </a:p>
        </p:txBody>
      </p:sp>
      <p:sp>
        <p:nvSpPr>
          <p:cNvPr id="45" name="Shape 35"/>
          <p:cNvSpPr/>
          <p:nvPr/>
        </p:nvSpPr>
        <p:spPr>
          <a:xfrm>
            <a:off x="594360" y="4928616"/>
            <a:ext cx="2578608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777240" y="5248656"/>
            <a:ext cx="438912" cy="43891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47" name="Image 8" descr="C:\Users\mike2\AppData\Local\Temp\claude\C--Users-mike2-Desktop-Progetto-HTML-CSS\af47ebcf-3447-46c2-8265-3012f55f80d0\scratchpad\deck\assets\ico-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579" y="5353995"/>
            <a:ext cx="228234" cy="228234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1344168" y="516636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5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Sass</a:t>
            </a:r>
            <a:endParaRPr lang="it-IT" sz="1500" dirty="0"/>
          </a:p>
        </p:txBody>
      </p:sp>
      <p:sp>
        <p:nvSpPr>
          <p:cNvPr id="49" name="Text 38"/>
          <p:cNvSpPr txBox="1"/>
          <p:nvPr/>
        </p:nvSpPr>
        <p:spPr>
          <a:xfrm>
            <a:off x="1344168" y="5495544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file, uno per argomento</a:t>
            </a:r>
            <a:endParaRPr lang="it-IT" sz="1200" dirty="0"/>
          </a:p>
        </p:txBody>
      </p:sp>
      <p:sp>
        <p:nvSpPr>
          <p:cNvPr id="50" name="Shape 39"/>
          <p:cNvSpPr/>
          <p:nvPr/>
        </p:nvSpPr>
        <p:spPr>
          <a:xfrm>
            <a:off x="3401568" y="4928616"/>
            <a:ext cx="2578608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3584448" y="5248656"/>
            <a:ext cx="438912" cy="43891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52" name="Image 9" descr="C:\Users\mike2\AppData\Local\Temp\claude\C--Users-mike2-Desktop-Progetto-HTML-CSS\af47ebcf-3447-46c2-8265-3012f55f80d0\scratchpad\deck\assets\ico-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9787" y="5353995"/>
            <a:ext cx="228234" cy="228234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4151376" y="516636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5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responsive</a:t>
            </a:r>
            <a:endParaRPr lang="it-IT" sz="1500" dirty="0"/>
          </a:p>
        </p:txBody>
      </p:sp>
      <p:sp>
        <p:nvSpPr>
          <p:cNvPr id="54" name="Text 42"/>
          <p:cNvSpPr txBox="1"/>
          <p:nvPr/>
        </p:nvSpPr>
        <p:spPr>
          <a:xfrm>
            <a:off x="4151376" y="5495544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320 a 1440 pixel</a:t>
            </a:r>
            <a:endParaRPr lang="it-IT" sz="1200" dirty="0"/>
          </a:p>
        </p:txBody>
      </p:sp>
      <p:sp>
        <p:nvSpPr>
          <p:cNvPr id="55" name="Shape 43"/>
          <p:cNvSpPr/>
          <p:nvPr/>
        </p:nvSpPr>
        <p:spPr>
          <a:xfrm>
            <a:off x="6208776" y="4928616"/>
            <a:ext cx="2578608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56" name="Shape 44"/>
          <p:cNvSpPr/>
          <p:nvPr/>
        </p:nvSpPr>
        <p:spPr>
          <a:xfrm>
            <a:off x="6391656" y="5248656"/>
            <a:ext cx="438912" cy="43891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57" name="Image 10" descr="C:\Users\mike2\AppData\Local\Temp\claude\C--Users-mike2-Desktop-Progetto-HTML-CSS\af47ebcf-3447-46c2-8265-3012f55f80d0\scratchpad\deck\assets\ico-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6995" y="5353995"/>
            <a:ext cx="228234" cy="228234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6958584" y="516636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5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Graph</a:t>
            </a:r>
            <a:endParaRPr lang="it-IT" sz="1500" dirty="0"/>
          </a:p>
        </p:txBody>
      </p:sp>
      <p:sp>
        <p:nvSpPr>
          <p:cNvPr id="59" name="Text 46"/>
          <p:cNvSpPr txBox="1"/>
          <p:nvPr/>
        </p:nvSpPr>
        <p:spPr>
          <a:xfrm>
            <a:off x="6958584" y="5495544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L'anteprima per i social</a:t>
            </a:r>
            <a:endParaRPr lang="it-IT" sz="1200" dirty="0"/>
          </a:p>
        </p:txBody>
      </p:sp>
      <p:sp>
        <p:nvSpPr>
          <p:cNvPr id="60" name="Shape 47"/>
          <p:cNvSpPr/>
          <p:nvPr/>
        </p:nvSpPr>
        <p:spPr>
          <a:xfrm>
            <a:off x="9015984" y="4928616"/>
            <a:ext cx="2578608" cy="1078992"/>
          </a:xfrm>
          <a:prstGeom prst="roundRect">
            <a:avLst>
              <a:gd name="adj" fmla="val 13559"/>
            </a:avLst>
          </a:prstGeom>
          <a:solidFill>
            <a:srgbClr val="384F95"/>
          </a:solidFill>
          <a:ln w="9525">
            <a:solidFill>
              <a:srgbClr val="384F95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61" name="Text 48"/>
          <p:cNvSpPr txBox="1"/>
          <p:nvPr/>
        </p:nvSpPr>
        <p:spPr>
          <a:xfrm>
            <a:off x="9290304" y="511149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28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11 su 11</a:t>
            </a:r>
            <a:endParaRPr lang="it-IT" sz="2800" dirty="0"/>
          </a:p>
        </p:txBody>
      </p:sp>
      <p:sp>
        <p:nvSpPr>
          <p:cNvPr id="62" name="Text 49"/>
          <p:cNvSpPr txBox="1"/>
          <p:nvPr/>
        </p:nvSpPr>
        <p:spPr>
          <a:xfrm>
            <a:off x="9290304" y="558698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dirty="0">
                <a:solidFill>
                  <a:srgbClr val="DBC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 rispettati</a:t>
            </a:r>
            <a:endParaRPr lang="it-IT" sz="1200" dirty="0"/>
          </a:p>
        </p:txBody>
      </p:sp>
      <p:sp>
        <p:nvSpPr>
          <p:cNvPr id="63" name="Text 50"/>
          <p:cNvSpPr txBox="1"/>
          <p:nvPr/>
        </p:nvSpPr>
        <p:spPr>
          <a:xfrm>
            <a:off x="10680192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it-IT" altLang="en-US" sz="10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it-IT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PUBBLICO</a:t>
            </a:r>
            <a:endParaRPr lang="it-IT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36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chi parla il sito</a:t>
            </a:r>
            <a:endParaRPr lang="it-IT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6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 recruiter o a un team di design che cerca un profilo junior. In pochi secondi deve capire chi sono, cosa so fare e come scrivermi.</a:t>
            </a:r>
            <a:endParaRPr lang="it-IT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606040"/>
            <a:ext cx="3453384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2953512"/>
            <a:ext cx="713232" cy="71323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7" name="Image 0" descr="C:\Users\mike2\AppData\Local\Temp\claude\C--Users-mike2-Desktop-Progetto-HTML-CSS\af47ebcf-3447-46c2-8265-3012f55f80d0\scratchpad\deck\assets\ico-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08" y="3124688"/>
            <a:ext cx="370881" cy="37088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41832" y="3867912"/>
            <a:ext cx="275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21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Chi sono</a:t>
            </a:r>
            <a:endParaRPr lang="it-IT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41832" y="4343400"/>
            <a:ext cx="2758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it-IT" altLang="en-US" sz="14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UX/UI designer in formazione, con alle spalle un percorso da sviluppatrice web.</a:t>
            </a:r>
            <a:endParaRPr lang="it-IT" sz="1400" dirty="0"/>
          </a:p>
        </p:txBody>
      </p:sp>
      <p:sp>
        <p:nvSpPr>
          <p:cNvPr id="10" name="Shape 7"/>
          <p:cNvSpPr/>
          <p:nvPr/>
        </p:nvSpPr>
        <p:spPr>
          <a:xfrm>
            <a:off x="4367784" y="2606040"/>
            <a:ext cx="3453384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15256" y="2953512"/>
            <a:ext cx="713232" cy="71323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12" name="Image 1" descr="C:\Users\mike2\AppData\Local\Temp\claude\C--Users-mike2-Desktop-Progetto-HTML-CSS\af47ebcf-3447-46c2-8265-3012f55f80d0\scratchpad\deck\assets\ico-spark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432" y="3124688"/>
            <a:ext cx="370881" cy="37088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15256" y="3867912"/>
            <a:ext cx="275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21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Cosa porto</a:t>
            </a:r>
            <a:endParaRPr lang="it-IT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4715256" y="4343400"/>
            <a:ext cx="2758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it-IT" altLang="en-US" sz="14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Ricerca, wireframe e prototipi in Figma, e un occhio a come il progetto verrà costruito.</a:t>
            </a:r>
            <a:endParaRPr lang="it-IT" sz="1400" dirty="0"/>
          </a:p>
        </p:txBody>
      </p:sp>
      <p:sp>
        <p:nvSpPr>
          <p:cNvPr id="15" name="Shape 11"/>
          <p:cNvSpPr/>
          <p:nvPr/>
        </p:nvSpPr>
        <p:spPr>
          <a:xfrm>
            <a:off x="8141208" y="2606040"/>
            <a:ext cx="3453384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88680" y="2953512"/>
            <a:ext cx="713232" cy="71323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17" name="Image 2" descr="C:\Users\mike2\AppData\Local\Temp\claude\C--Users-mike2-Desktop-Progetto-HTML-CSS\af47ebcf-3447-46c2-8265-3012f55f80d0\scratchpad\deck\assets\ico-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856" y="3124688"/>
            <a:ext cx="370881" cy="37088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88680" y="3867912"/>
            <a:ext cx="275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21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Cosa cerco</a:t>
            </a:r>
            <a:endParaRPr lang="it-IT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8488680" y="4343400"/>
            <a:ext cx="2758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it-IT" altLang="en-US" sz="14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primo impiego o una collaborazione in cui crescere accanto a un team più esperto.</a:t>
            </a:r>
            <a:endParaRPr lang="it-IT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94360" y="5779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400" i="1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questo ogni pagina chiude con un invito al contatto ben visibile.</a:t>
            </a:r>
            <a:endParaRPr lang="it-IT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0680192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it-IT" altLang="en-US" sz="10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it-IT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</a:t>
            </a:r>
            <a:endParaRPr lang="it-IT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36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Cinque pagine, un percorso semplice</a:t>
            </a:r>
            <a:endParaRPr lang="it-IT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87452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it-IT" altLang="en-US" sz="15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parte dalla home. Da lì tre strade: i progetti, il curriculum, il contatto. Dopo l'invio del modulo, una pagina di ringraziamento chiude il cerchio.</a:t>
            </a:r>
            <a:endParaRPr lang="it-IT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3474720"/>
            <a:ext cx="3429000" cy="1143000"/>
          </a:xfrm>
          <a:prstGeom prst="roundRect">
            <a:avLst>
              <a:gd name="adj" fmla="val 12800"/>
            </a:avLst>
          </a:prstGeom>
          <a:solidFill>
            <a:srgbClr val="EFE7FC"/>
          </a:solidFill>
          <a:ln w="9525">
            <a:solidFill>
              <a:srgbClr val="EFE7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794760"/>
            <a:ext cx="502920" cy="5029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7" name="Image 0" descr="C:\Users\mike2\AppData\Local\Temp\claude\C--Users-mike2-Desktop-Progetto-HTML-CSS\af47ebcf-3447-46c2-8265-3012f55f80d0\scratchpad\deck\assets\ico-pa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3915461"/>
            <a:ext cx="261518" cy="26151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it-IT" altLang="en-US" sz="1300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menu resta fisso in alto su ogni pagina: da qualunque punto, scrivermi è a un clic.</a:t>
            </a:r>
            <a:endParaRPr lang="it-IT" sz="1300" dirty="0"/>
          </a:p>
        </p:txBody>
      </p:sp>
      <p:sp>
        <p:nvSpPr>
          <p:cNvPr id="9" name="Shape 6"/>
          <p:cNvSpPr/>
          <p:nvPr/>
        </p:nvSpPr>
        <p:spPr>
          <a:xfrm>
            <a:off x="7086600" y="1783080"/>
            <a:ext cx="2240280" cy="914400"/>
          </a:xfrm>
          <a:prstGeom prst="roundRect">
            <a:avLst>
              <a:gd name="adj" fmla="val 16000"/>
            </a:avLst>
          </a:prstGeom>
          <a:solidFill>
            <a:srgbClr val="384F95"/>
          </a:solidFill>
          <a:ln w="9525">
            <a:solidFill>
              <a:srgbClr val="384F95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315200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8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Home</a:t>
            </a:r>
            <a:endParaRPr lang="it-IT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22951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00" dirty="0">
                <a:solidFill>
                  <a:srgbClr val="DBC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sono e progetti in vista</a:t>
            </a:r>
            <a:endParaRPr lang="it-IT" sz="1100" dirty="0"/>
          </a:p>
        </p:txBody>
      </p:sp>
      <p:sp>
        <p:nvSpPr>
          <p:cNvPr id="12" name="Shape 9"/>
          <p:cNvSpPr/>
          <p:nvPr/>
        </p:nvSpPr>
        <p:spPr>
          <a:xfrm>
            <a:off x="8206740" y="2697480"/>
            <a:ext cx="0" cy="384048"/>
          </a:xfrm>
          <a:prstGeom prst="line">
            <a:avLst/>
          </a:prstGeom>
          <a:noFill/>
          <a:ln w="22225">
            <a:solidFill>
              <a:srgbClr val="A6BA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92140" y="3081528"/>
            <a:ext cx="5029200" cy="0"/>
          </a:xfrm>
          <a:prstGeom prst="line">
            <a:avLst/>
          </a:prstGeom>
          <a:noFill/>
          <a:ln w="22225">
            <a:solidFill>
              <a:srgbClr val="A6BA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92140" y="3081528"/>
            <a:ext cx="0" cy="393192"/>
          </a:xfrm>
          <a:prstGeom prst="line">
            <a:avLst/>
          </a:prstGeom>
          <a:noFill/>
          <a:ln w="22225">
            <a:solidFill>
              <a:srgbClr val="A6BA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06740" y="3081528"/>
            <a:ext cx="0" cy="393192"/>
          </a:xfrm>
          <a:prstGeom prst="line">
            <a:avLst/>
          </a:prstGeom>
          <a:noFill/>
          <a:ln w="22225">
            <a:solidFill>
              <a:srgbClr val="A6BA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721340" y="3081528"/>
            <a:ext cx="0" cy="393192"/>
          </a:xfrm>
          <a:prstGeom prst="line">
            <a:avLst/>
          </a:prstGeom>
          <a:noFill/>
          <a:ln w="22225">
            <a:solidFill>
              <a:srgbClr val="A6BA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0" y="3474720"/>
            <a:ext cx="224028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800600" y="3630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8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Progetti</a:t>
            </a:r>
            <a:endParaRPr lang="it-IT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39867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schede di lavoro</a:t>
            </a:r>
            <a:endParaRPr lang="it-IT" sz="1100" dirty="0"/>
          </a:p>
        </p:txBody>
      </p:sp>
      <p:sp>
        <p:nvSpPr>
          <p:cNvPr id="20" name="Shape 17"/>
          <p:cNvSpPr/>
          <p:nvPr/>
        </p:nvSpPr>
        <p:spPr>
          <a:xfrm>
            <a:off x="7086600" y="3474720"/>
            <a:ext cx="224028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315200" y="3630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8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Curriculum</a:t>
            </a:r>
            <a:endParaRPr lang="it-IT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0" y="39867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Formazione e competenze</a:t>
            </a:r>
            <a:endParaRPr lang="it-IT" sz="1100" dirty="0"/>
          </a:p>
        </p:txBody>
      </p:sp>
      <p:sp>
        <p:nvSpPr>
          <p:cNvPr id="23" name="Shape 20"/>
          <p:cNvSpPr/>
          <p:nvPr/>
        </p:nvSpPr>
        <p:spPr>
          <a:xfrm>
            <a:off x="9601200" y="3474720"/>
            <a:ext cx="224028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829800" y="3630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8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Contatti</a:t>
            </a:r>
            <a:endParaRPr lang="it-IT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829800" y="39867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con validazione</a:t>
            </a:r>
            <a:endParaRPr lang="it-IT" sz="1100" dirty="0"/>
          </a:p>
        </p:txBody>
      </p:sp>
      <p:sp>
        <p:nvSpPr>
          <p:cNvPr id="26" name="Shape 23"/>
          <p:cNvSpPr/>
          <p:nvPr/>
        </p:nvSpPr>
        <p:spPr>
          <a:xfrm>
            <a:off x="10721340" y="4389120"/>
            <a:ext cx="0" cy="548640"/>
          </a:xfrm>
          <a:prstGeom prst="line">
            <a:avLst/>
          </a:prstGeom>
          <a:noFill/>
          <a:ln w="22225">
            <a:solidFill>
              <a:srgbClr val="A6BAE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601200" y="4937760"/>
            <a:ext cx="2240280" cy="914400"/>
          </a:xfrm>
          <a:prstGeom prst="roundRect">
            <a:avLst>
              <a:gd name="adj" fmla="val 16000"/>
            </a:avLst>
          </a:prstGeom>
          <a:solidFill>
            <a:srgbClr val="EFE7FC"/>
          </a:solidFill>
          <a:ln w="9525">
            <a:solidFill>
              <a:srgbClr val="DBC9F9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9829800" y="5093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8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Grazie</a:t>
            </a:r>
            <a:endParaRPr lang="it-IT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829800" y="54498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dell'invio</a:t>
            </a:r>
            <a:endParaRPr lang="it-IT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680192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it-IT" altLang="en-US" sz="10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it-IT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b="1" spc="300" kern="0" dirty="0">
                <a:solidFill>
                  <a:srgbClr val="93A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</a:t>
            </a:r>
            <a:endParaRPr lang="it-IT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3600" b="1" dirty="0">
                <a:solidFill>
                  <a:srgbClr val="ECE4F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Quattro versioni prima di quella giusta</a:t>
            </a:r>
            <a:endParaRPr lang="it-IT" sz="3600" dirty="0"/>
          </a:p>
        </p:txBody>
      </p:sp>
      <p:sp>
        <p:nvSpPr>
          <p:cNvPr id="4" name="Shape 2"/>
          <p:cNvSpPr/>
          <p:nvPr/>
        </p:nvSpPr>
        <p:spPr>
          <a:xfrm>
            <a:off x="960120" y="2560320"/>
            <a:ext cx="8449056" cy="0"/>
          </a:xfrm>
          <a:prstGeom prst="line">
            <a:avLst/>
          </a:prstGeom>
          <a:noFill/>
          <a:ln w="25400">
            <a:solidFill>
              <a:srgbClr val="2A36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194560"/>
            <a:ext cx="731520" cy="731520"/>
          </a:xfrm>
          <a:prstGeom prst="ellipse">
            <a:avLst/>
          </a:prstGeom>
          <a:solidFill>
            <a:srgbClr val="1E294C"/>
          </a:solidFill>
          <a:ln w="19050">
            <a:solidFill>
              <a:srgbClr val="BFA6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it-IT" altLang="en-US" sz="2200" b="1" dirty="0">
                <a:solidFill>
                  <a:srgbClr val="BFA6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it-IT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2200" b="1" dirty="0">
                <a:solidFill>
                  <a:srgbClr val="BFA6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Ricca</a:t>
            </a:r>
            <a:endParaRPr lang="it-IT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70332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it-IT" altLang="en-US" sz="1400" dirty="0">
                <a:solidFill>
                  <a:srgbClr val="EC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Animazioni, sfumature, una striscia di testo in movimento. Bella, ma troppo.</a:t>
            </a:r>
            <a:endParaRPr lang="it-IT" sz="1400" dirty="0"/>
          </a:p>
        </p:txBody>
      </p:sp>
      <p:sp>
        <p:nvSpPr>
          <p:cNvPr id="9" name="Shape 7"/>
          <p:cNvSpPr/>
          <p:nvPr/>
        </p:nvSpPr>
        <p:spPr>
          <a:xfrm>
            <a:off x="3410712" y="2194560"/>
            <a:ext cx="731520" cy="731520"/>
          </a:xfrm>
          <a:prstGeom prst="ellipse">
            <a:avLst/>
          </a:prstGeom>
          <a:solidFill>
            <a:srgbClr val="1E294C"/>
          </a:solidFill>
          <a:ln w="19050">
            <a:solidFill>
              <a:srgbClr val="BFA6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0712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it-IT" altLang="en-US" sz="2200" b="1" dirty="0">
                <a:solidFill>
                  <a:srgbClr val="BFA6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it-IT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2200" b="1" dirty="0">
                <a:solidFill>
                  <a:srgbClr val="BFA6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Sottrazione</a:t>
            </a:r>
            <a:endParaRPr lang="it-IT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410712" y="370332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it-IT" altLang="en-US" sz="1400" dirty="0">
                <a:solidFill>
                  <a:srgbClr val="EC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gli effetti superflui e diverse sezioni. Resta solo l’essenziale.</a:t>
            </a:r>
            <a:endParaRPr lang="it-IT" sz="1400" dirty="0"/>
          </a:p>
        </p:txBody>
      </p:sp>
      <p:sp>
        <p:nvSpPr>
          <p:cNvPr id="13" name="Shape 11"/>
          <p:cNvSpPr/>
          <p:nvPr/>
        </p:nvSpPr>
        <p:spPr>
          <a:xfrm>
            <a:off x="6227064" y="2194560"/>
            <a:ext cx="731520" cy="731520"/>
          </a:xfrm>
          <a:prstGeom prst="ellipse">
            <a:avLst/>
          </a:prstGeom>
          <a:solidFill>
            <a:srgbClr val="1E294C"/>
          </a:solidFill>
          <a:ln w="19050">
            <a:solidFill>
              <a:srgbClr val="BFA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27064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it-IT" altLang="en-US" sz="2200" b="1" dirty="0">
                <a:solidFill>
                  <a:srgbClr val="BFA6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it-IT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227064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2200" b="1" dirty="0">
                <a:solidFill>
                  <a:srgbClr val="BFA6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Calore</a:t>
            </a:r>
            <a:endParaRPr lang="it-IT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227064" y="370332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it-IT" altLang="en-US" sz="1400" dirty="0">
                <a:solidFill>
                  <a:srgbClr val="EC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fra le sezioni, toni più morbidi e l’interruttore chiaro/scuro.</a:t>
            </a:r>
            <a:endParaRPr lang="it-IT" sz="1400" dirty="0"/>
          </a:p>
        </p:txBody>
      </p:sp>
      <p:sp>
        <p:nvSpPr>
          <p:cNvPr id="17" name="Shape 15"/>
          <p:cNvSpPr/>
          <p:nvPr/>
        </p:nvSpPr>
        <p:spPr>
          <a:xfrm>
            <a:off x="9043416" y="2194560"/>
            <a:ext cx="731520" cy="731520"/>
          </a:xfrm>
          <a:prstGeom prst="ellipse">
            <a:avLst/>
          </a:prstGeom>
          <a:solidFill>
            <a:srgbClr val="BFA6EA"/>
          </a:solidFill>
          <a:ln w="19050">
            <a:solidFill>
              <a:srgbClr val="BFA6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43416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it-IT" altLang="en-US" sz="2200" b="1" dirty="0">
                <a:solidFill>
                  <a:srgbClr val="1620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it-IT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043416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2200" b="1" dirty="0">
                <a:solidFill>
                  <a:srgbClr val="BFA6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Identità</a:t>
            </a:r>
            <a:endParaRPr lang="it-IT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043416" y="370332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it-IT" altLang="en-US" sz="1400" dirty="0">
                <a:solidFill>
                  <a:srgbClr val="EC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palette definitiva e la coppia di caratteri Lora e Inter.</a:t>
            </a:r>
            <a:endParaRPr lang="it-IT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2200" i="1" dirty="0">
                <a:solidFill>
                  <a:srgbClr val="BFA6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Togliere è servito più che aggiungere.</a:t>
            </a:r>
            <a:endParaRPr lang="it-IT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0680192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it-IT" altLang="en-US" sz="1000" dirty="0">
                <a:solidFill>
                  <a:srgbClr val="93A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it-IT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</a:t>
            </a:r>
            <a:endParaRPr lang="it-IT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0467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36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Due palette, una per tema</a:t>
            </a:r>
            <a:endParaRPr lang="it-IT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89611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it-IT" altLang="en-US" sz="12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Sfondi e bordi nascono mescolando questi colori con il bianco: ogni tinta del sito resta parente della palette.</a:t>
            </a:r>
            <a:endParaRPr lang="it-IT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4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chiaro</a:t>
            </a:r>
            <a:endParaRPr lang="it-IT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167128"/>
            <a:ext cx="2053742" cy="1188720"/>
          </a:xfrm>
          <a:prstGeom prst="roundRect">
            <a:avLst>
              <a:gd name="adj" fmla="val 12308"/>
            </a:avLst>
          </a:prstGeom>
          <a:solidFill>
            <a:srgbClr val="203B70"/>
          </a:solidFill>
          <a:ln w="9525">
            <a:solidFill>
              <a:srgbClr val="203B70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3474720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#203B70</a:t>
            </a:r>
            <a:endParaRPr lang="it-IT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730752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</a:t>
            </a:r>
            <a:endParaRPr lang="it-IT" sz="1150" dirty="0"/>
          </a:p>
        </p:txBody>
      </p:sp>
      <p:sp>
        <p:nvSpPr>
          <p:cNvPr id="9" name="Shape 7"/>
          <p:cNvSpPr/>
          <p:nvPr/>
        </p:nvSpPr>
        <p:spPr>
          <a:xfrm>
            <a:off x="2830982" y="2167128"/>
            <a:ext cx="2053742" cy="1188720"/>
          </a:xfrm>
          <a:prstGeom prst="roundRect">
            <a:avLst>
              <a:gd name="adj" fmla="val 12308"/>
            </a:avLst>
          </a:prstGeom>
          <a:solidFill>
            <a:srgbClr val="384F95"/>
          </a:solidFill>
          <a:ln w="9525">
            <a:solidFill>
              <a:srgbClr val="384F95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830982" y="3474720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#384F95</a:t>
            </a:r>
            <a:endParaRPr lang="it-IT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30982" y="3730752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 bottoni</a:t>
            </a:r>
            <a:endParaRPr lang="it-IT" sz="1150" dirty="0"/>
          </a:p>
        </p:txBody>
      </p:sp>
      <p:sp>
        <p:nvSpPr>
          <p:cNvPr id="12" name="Shape 10"/>
          <p:cNvSpPr/>
          <p:nvPr/>
        </p:nvSpPr>
        <p:spPr>
          <a:xfrm>
            <a:off x="5067605" y="2167128"/>
            <a:ext cx="2053742" cy="1188720"/>
          </a:xfrm>
          <a:prstGeom prst="roundRect">
            <a:avLst>
              <a:gd name="adj" fmla="val 12308"/>
            </a:avLst>
          </a:prstGeom>
          <a:solidFill>
            <a:srgbClr val="BC7EBF"/>
          </a:solidFill>
          <a:ln w="9525">
            <a:solidFill>
              <a:srgbClr val="BC7EBF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067605" y="3474720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#BC7EBF</a:t>
            </a:r>
            <a:endParaRPr lang="it-IT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67605" y="3730752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Accento</a:t>
            </a:r>
            <a:endParaRPr lang="it-IT" sz="1150" dirty="0"/>
          </a:p>
        </p:txBody>
      </p:sp>
      <p:sp>
        <p:nvSpPr>
          <p:cNvPr id="15" name="Shape 13"/>
          <p:cNvSpPr/>
          <p:nvPr/>
        </p:nvSpPr>
        <p:spPr>
          <a:xfrm>
            <a:off x="7304227" y="2167128"/>
            <a:ext cx="2053742" cy="1188720"/>
          </a:xfrm>
          <a:prstGeom prst="roundRect">
            <a:avLst>
              <a:gd name="adj" fmla="val 12308"/>
            </a:avLst>
          </a:prstGeom>
          <a:solidFill>
            <a:srgbClr val="DBC9F9"/>
          </a:solidFill>
          <a:ln w="9525">
            <a:solidFill>
              <a:srgbClr val="DBC9F9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04227" y="3474720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#DBC9F9</a:t>
            </a:r>
            <a:endParaRPr lang="it-IT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04227" y="3730752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Fasce e sfondi</a:t>
            </a:r>
            <a:endParaRPr lang="it-IT" sz="1150" dirty="0"/>
          </a:p>
        </p:txBody>
      </p:sp>
      <p:sp>
        <p:nvSpPr>
          <p:cNvPr id="18" name="Shape 16"/>
          <p:cNvSpPr/>
          <p:nvPr/>
        </p:nvSpPr>
        <p:spPr>
          <a:xfrm>
            <a:off x="9540850" y="2167128"/>
            <a:ext cx="2053742" cy="1188720"/>
          </a:xfrm>
          <a:prstGeom prst="roundRect">
            <a:avLst>
              <a:gd name="adj" fmla="val 12308"/>
            </a:avLst>
          </a:prstGeom>
          <a:solidFill>
            <a:srgbClr val="A6BAED"/>
          </a:solidFill>
          <a:ln w="9525">
            <a:solidFill>
              <a:srgbClr val="DBC9F9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540850" y="3474720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#A6BAED</a:t>
            </a:r>
            <a:endParaRPr lang="it-IT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540850" y="3730752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Bordi</a:t>
            </a:r>
            <a:endParaRPr lang="it-IT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4069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4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scuro</a:t>
            </a:r>
            <a:endParaRPr lang="it-IT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4453128"/>
            <a:ext cx="2053742" cy="1188720"/>
          </a:xfrm>
          <a:prstGeom prst="roundRect">
            <a:avLst>
              <a:gd name="adj" fmla="val 12308"/>
            </a:avLst>
          </a:prstGeom>
          <a:solidFill>
            <a:srgbClr val="162039"/>
          </a:solidFill>
          <a:ln w="9525">
            <a:solidFill>
              <a:srgbClr val="162039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94360" y="5760720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#162039</a:t>
            </a:r>
            <a:endParaRPr lang="it-IT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016752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Sfondo</a:t>
            </a:r>
            <a:endParaRPr lang="it-IT" sz="1150" dirty="0"/>
          </a:p>
        </p:txBody>
      </p:sp>
      <p:sp>
        <p:nvSpPr>
          <p:cNvPr id="25" name="Shape 23"/>
          <p:cNvSpPr/>
          <p:nvPr/>
        </p:nvSpPr>
        <p:spPr>
          <a:xfrm>
            <a:off x="2830982" y="4453128"/>
            <a:ext cx="2053742" cy="1188720"/>
          </a:xfrm>
          <a:prstGeom prst="roundRect">
            <a:avLst>
              <a:gd name="adj" fmla="val 12308"/>
            </a:avLst>
          </a:prstGeom>
          <a:solidFill>
            <a:srgbClr val="2A3666"/>
          </a:solidFill>
          <a:ln w="9525">
            <a:solidFill>
              <a:srgbClr val="2A3666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2830982" y="5760720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#2A3666</a:t>
            </a:r>
            <a:endParaRPr lang="it-IT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830982" y="6016752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Bordi</a:t>
            </a:r>
            <a:endParaRPr lang="it-IT" sz="1150" dirty="0"/>
          </a:p>
        </p:txBody>
      </p:sp>
      <p:sp>
        <p:nvSpPr>
          <p:cNvPr id="28" name="Shape 26"/>
          <p:cNvSpPr/>
          <p:nvPr/>
        </p:nvSpPr>
        <p:spPr>
          <a:xfrm>
            <a:off x="5067605" y="4453128"/>
            <a:ext cx="2053742" cy="1188720"/>
          </a:xfrm>
          <a:prstGeom prst="roundRect">
            <a:avLst>
              <a:gd name="adj" fmla="val 12308"/>
            </a:avLst>
          </a:prstGeom>
          <a:solidFill>
            <a:srgbClr val="8F629B"/>
          </a:solidFill>
          <a:ln w="9525">
            <a:solidFill>
              <a:srgbClr val="8F629B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067605" y="5760720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#8F629B</a:t>
            </a:r>
            <a:endParaRPr lang="it-IT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067605" y="6016752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Accento</a:t>
            </a:r>
            <a:endParaRPr lang="it-IT" sz="1150" dirty="0"/>
          </a:p>
        </p:txBody>
      </p:sp>
      <p:sp>
        <p:nvSpPr>
          <p:cNvPr id="31" name="Shape 29"/>
          <p:cNvSpPr/>
          <p:nvPr/>
        </p:nvSpPr>
        <p:spPr>
          <a:xfrm>
            <a:off x="7304227" y="4453128"/>
            <a:ext cx="2053742" cy="1188720"/>
          </a:xfrm>
          <a:prstGeom prst="roundRect">
            <a:avLst>
              <a:gd name="adj" fmla="val 12308"/>
            </a:avLst>
          </a:prstGeom>
          <a:solidFill>
            <a:srgbClr val="BFA6EA"/>
          </a:solidFill>
          <a:ln w="9525">
            <a:solidFill>
              <a:srgbClr val="BFA6EA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304227" y="5760720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#BFA6EA</a:t>
            </a:r>
            <a:endParaRPr lang="it-IT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304227" y="6016752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Titoli e link</a:t>
            </a:r>
            <a:endParaRPr lang="it-IT" sz="1150" dirty="0"/>
          </a:p>
        </p:txBody>
      </p:sp>
      <p:sp>
        <p:nvSpPr>
          <p:cNvPr id="34" name="Shape 32"/>
          <p:cNvSpPr/>
          <p:nvPr/>
        </p:nvSpPr>
        <p:spPr>
          <a:xfrm>
            <a:off x="9540850" y="4453128"/>
            <a:ext cx="2053742" cy="1188720"/>
          </a:xfrm>
          <a:prstGeom prst="roundRect">
            <a:avLst>
              <a:gd name="adj" fmla="val 12308"/>
            </a:avLst>
          </a:prstGeom>
          <a:solidFill>
            <a:srgbClr val="93A8EB"/>
          </a:solidFill>
          <a:ln w="9525">
            <a:solidFill>
              <a:srgbClr val="93A8EB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540850" y="5760720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#93A8EB</a:t>
            </a:r>
            <a:endParaRPr lang="it-IT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540850" y="6016752"/>
            <a:ext cx="2053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Didascalie</a:t>
            </a:r>
            <a:endParaRPr lang="it-IT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0680192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it-IT" altLang="en-US" sz="10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it-IT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</a:t>
            </a:r>
            <a:endParaRPr lang="it-IT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36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Una coppia di caratteri: Lora e Inter</a:t>
            </a:r>
            <a:endParaRPr lang="it-IT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34924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pic>
        <p:nvPicPr>
          <p:cNvPr id="5" name="Image 0" descr="Lettere Aa nel carattere Lo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93392"/>
            <a:ext cx="1649063" cy="1325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6343" y="2011680"/>
            <a:ext cx="2922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24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Lora</a:t>
            </a:r>
            <a:endParaRPr lang="it-IT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2746343" y="2468880"/>
            <a:ext cx="29229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TITOLI</a:t>
            </a:r>
            <a:endParaRPr lang="it-IT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746343" y="2743200"/>
            <a:ext cx="29229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it-IT" altLang="en-US" sz="125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grazie: dà personalità e un tono editoriale, quasi da rivista.</a:t>
            </a:r>
            <a:endParaRPr lang="it-IT" sz="1250" dirty="0"/>
          </a:p>
        </p:txBody>
      </p:sp>
      <p:pic>
        <p:nvPicPr>
          <p:cNvPr id="9" name="Image 1" descr="Alfabeto in Lo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66160"/>
            <a:ext cx="4412802" cy="7132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45352" y="1737360"/>
            <a:ext cx="534924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pic>
        <p:nvPicPr>
          <p:cNvPr id="11" name="Image 2" descr="Lettere Aa nel carattere In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93392"/>
            <a:ext cx="1740218" cy="1325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488490" y="2011680"/>
            <a:ext cx="28317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2400" b="1" dirty="0">
                <a:solidFill>
                  <a:srgbClr val="203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</a:t>
            </a:r>
            <a:endParaRPr lang="it-IT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8488490" y="2468880"/>
            <a:ext cx="28317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</a:t>
            </a:r>
            <a:endParaRPr lang="it-IT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8488490" y="2743200"/>
            <a:ext cx="28317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it-IT" altLang="en-US" sz="125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grazie: si legge senza fatica anche in piccolo, su ogni schermo.</a:t>
            </a:r>
            <a:endParaRPr lang="it-IT" sz="1250" dirty="0"/>
          </a:p>
        </p:txBody>
      </p:sp>
      <p:pic>
        <p:nvPicPr>
          <p:cNvPr id="15" name="Image 3" descr="Alfabeto in In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566160"/>
            <a:ext cx="4381282" cy="7132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94360" y="4736592"/>
            <a:ext cx="11000232" cy="1481328"/>
          </a:xfrm>
          <a:prstGeom prst="roundRect">
            <a:avLst>
              <a:gd name="adj" fmla="val 9877"/>
            </a:avLst>
          </a:prstGeom>
          <a:solidFill>
            <a:srgbClr val="EFE7FC"/>
          </a:solidFill>
          <a:ln w="9525">
            <a:solidFill>
              <a:srgbClr val="EFE7FC"/>
            </a:solidFill>
            <a:prstDash val="solid"/>
          </a:ln>
        </p:spPr>
      </p:sp>
      <p:pic>
        <p:nvPicPr>
          <p:cNvPr id="17" name="Image 4" descr="Esempio di titolo in Lora e testo in In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928616"/>
            <a:ext cx="4196494" cy="10972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522374" y="5029200"/>
            <a:ext cx="5797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8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Insieme sul sito</a:t>
            </a:r>
            <a:endParaRPr lang="it-IT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5522374" y="5440680"/>
            <a:ext cx="5797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it-IT" altLang="en-US" sz="13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dà il tono ai titoli, Inter si fa leggere nei testi lunghi e sul telefono.</a:t>
            </a:r>
            <a:endParaRPr lang="it-IT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10680192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it-IT" altLang="en-US" sz="10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it-IT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CHIARO E SCURO</a:t>
            </a:r>
            <a:endParaRPr lang="it-IT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36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 interruttore, zero JavaScript</a:t>
            </a:r>
            <a:endParaRPr lang="it-IT" sz="3600" dirty="0"/>
          </a:p>
        </p:txBody>
      </p:sp>
      <p:pic>
        <p:nvPicPr>
          <p:cNvPr id="4" name="Image 0" descr="La home page nel tema chia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600200"/>
            <a:ext cx="5623560" cy="3858926"/>
          </a:xfrm>
          <a:prstGeom prst="rect">
            <a:avLst/>
          </a:prstGeom>
        </p:spPr>
      </p:pic>
      <p:pic>
        <p:nvPicPr>
          <p:cNvPr id="5" name="Image 1" descr="La home page nel tema scu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623560" cy="38589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94360" y="5596128"/>
            <a:ext cx="365760" cy="365760"/>
          </a:xfrm>
          <a:prstGeom prst="ellipse">
            <a:avLst/>
          </a:prstGeom>
          <a:solidFill>
            <a:srgbClr val="384F95"/>
          </a:solidFill>
          <a:ln w="12700">
            <a:solidFill>
              <a:srgbClr val="384F9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4360" y="5596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it-IT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it-IT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097280" y="56144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base il sito è chiaro</a:t>
            </a:r>
            <a:endParaRPr lang="it-IT" sz="1300" dirty="0"/>
          </a:p>
        </p:txBody>
      </p:sp>
      <p:sp>
        <p:nvSpPr>
          <p:cNvPr id="9" name="Shape 5"/>
          <p:cNvSpPr/>
          <p:nvPr/>
        </p:nvSpPr>
        <p:spPr>
          <a:xfrm>
            <a:off x="4297680" y="5596128"/>
            <a:ext cx="365760" cy="365760"/>
          </a:xfrm>
          <a:prstGeom prst="ellipse">
            <a:avLst/>
          </a:prstGeom>
          <a:solidFill>
            <a:srgbClr val="384F95"/>
          </a:solidFill>
          <a:ln w="12700">
            <a:solidFill>
              <a:srgbClr val="384F9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297680" y="5596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it-IT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it-IT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800600" y="56144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il sistema è scuro, si adegua da solo</a:t>
            </a:r>
            <a:endParaRPr lang="it-IT" sz="1300" dirty="0"/>
          </a:p>
        </p:txBody>
      </p:sp>
      <p:sp>
        <p:nvSpPr>
          <p:cNvPr id="12" name="Shape 8"/>
          <p:cNvSpPr/>
          <p:nvPr/>
        </p:nvSpPr>
        <p:spPr>
          <a:xfrm>
            <a:off x="8001000" y="5596128"/>
            <a:ext cx="365760" cy="365760"/>
          </a:xfrm>
          <a:prstGeom prst="ellipse">
            <a:avLst/>
          </a:prstGeom>
          <a:solidFill>
            <a:srgbClr val="384F95"/>
          </a:solidFill>
          <a:ln w="12700">
            <a:solidFill>
              <a:srgbClr val="384F9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001000" y="5596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it-IT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it-IT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56144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L'interruttore inverte la scelta, grazie a :has()</a:t>
            </a:r>
            <a:endParaRPr lang="it-IT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0680192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it-IT" altLang="en-US" sz="10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it-IT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DETTAGLI</a:t>
            </a:r>
            <a:endParaRPr lang="it-IT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36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Piccole cose che si notano</a:t>
            </a:r>
            <a:endParaRPr lang="it-IT" sz="3600" dirty="0"/>
          </a:p>
        </p:txBody>
      </p:sp>
      <p:pic>
        <p:nvPicPr>
          <p:cNvPr id="4" name="Image 0" descr="Il passaggio ondulato fra due sezion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5669280" cy="133936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3337560"/>
            <a:ext cx="475488" cy="475488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6" name="Image 1" descr="C:\Users\mike2\AppData\Local\Temp\claude\C--Users-mike2-Desktop-Progetto-HTML-CSS\af47ebcf-3447-46c2-8265-3012f55f80d0\scratchpad\deck\assets\ico-wa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77" y="3451677"/>
            <a:ext cx="247254" cy="24725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33101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7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Onde fra le sezioni</a:t>
            </a:r>
            <a:endParaRPr lang="it-IT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1234440" y="3657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5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maschera SVG che prende il colore dal tema: si adatta da sola al chiaro e allo scuro.</a:t>
            </a:r>
            <a:endParaRPr lang="it-IT" sz="1250" dirty="0"/>
          </a:p>
        </p:txBody>
      </p:sp>
      <p:pic>
        <p:nvPicPr>
          <p:cNvPr id="9" name="Image 2" descr="Il menu con l’interruttore spen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407408"/>
            <a:ext cx="5669280" cy="287513"/>
          </a:xfrm>
          <a:prstGeom prst="rect">
            <a:avLst/>
          </a:prstGeom>
        </p:spPr>
      </p:pic>
      <p:pic>
        <p:nvPicPr>
          <p:cNvPr id="10" name="Image 3" descr="Il menu con l’interruttore acces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86361"/>
            <a:ext cx="5669280" cy="287513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94360" y="5321808"/>
            <a:ext cx="475488" cy="475488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12" name="Image 4" descr="C:\Users\mike2\AppData\Local\Temp\claude\C--Users-mike2-Desktop-Progetto-HTML-CSS\af47ebcf-3447-46c2-8265-3012f55f80d0\scratchpad\deck\assets\ico-su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477" y="5435925"/>
            <a:ext cx="247254" cy="24725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234440" y="529437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7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L'interruttore, prima e dopo</a:t>
            </a:r>
            <a:endParaRPr lang="it-IT" sz="1700" dirty="0"/>
          </a:p>
        </p:txBody>
      </p:sp>
      <p:sp>
        <p:nvSpPr>
          <p:cNvPr id="14" name="Text 7"/>
          <p:cNvSpPr txBox="1"/>
          <p:nvPr/>
        </p:nvSpPr>
        <p:spPr>
          <a:xfrm>
            <a:off x="1234440" y="56418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5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e il pallino scorre dal sole alla luna: cambia tutto il sito.</a:t>
            </a:r>
            <a:endParaRPr lang="it-IT" sz="1250" dirty="0"/>
          </a:p>
        </p:txBody>
      </p:sp>
      <p:sp>
        <p:nvSpPr>
          <p:cNvPr id="15" name="Shape 8"/>
          <p:cNvSpPr/>
          <p:nvPr/>
        </p:nvSpPr>
        <p:spPr>
          <a:xfrm>
            <a:off x="6675120" y="1783080"/>
            <a:ext cx="4919472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6995160" y="2103120"/>
            <a:ext cx="566928" cy="566928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17" name="Image 5" descr="C:\Users\mike2\AppData\Local\Temp\claude\C--Users-mike2-Desktop-Progetto-HTML-CSS\af47ebcf-3447-46c2-8265-3012f55f80d0\scratchpad\deck\assets\ico-smartpho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1223" y="2239183"/>
            <a:ext cx="294803" cy="294803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772400" y="208483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7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Menu mobile senza JavaScript</a:t>
            </a:r>
            <a:endParaRPr lang="it-IT" sz="1700" dirty="0"/>
          </a:p>
        </p:txBody>
      </p:sp>
      <p:sp>
        <p:nvSpPr>
          <p:cNvPr id="19" name="Text 11"/>
          <p:cNvSpPr txBox="1"/>
          <p:nvPr/>
        </p:nvSpPr>
        <p:spPr>
          <a:xfrm>
            <a:off x="7772400" y="2450592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it-IT" altLang="en-US" sz="13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casella di spunta nascosta apre e chiude il menu sul telefono.</a:t>
            </a:r>
            <a:endParaRPr lang="it-IT" sz="1300" dirty="0"/>
          </a:p>
        </p:txBody>
      </p:sp>
      <p:sp>
        <p:nvSpPr>
          <p:cNvPr id="20" name="Shape 12"/>
          <p:cNvSpPr/>
          <p:nvPr/>
        </p:nvSpPr>
        <p:spPr>
          <a:xfrm>
            <a:off x="6995160" y="3429000"/>
            <a:ext cx="566928" cy="566928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21" name="Image 6" descr="C:\Users\mike2\AppData\Local\Temp\claude\C--Users-mike2-Desktop-Progetto-HTML-CSS\af47ebcf-3447-46c2-8265-3012f55f80d0\scratchpad\deck\assets\ico-for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1223" y="3565063"/>
            <a:ext cx="294803" cy="294803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772400" y="341071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7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Il modulo si controlla da solo</a:t>
            </a:r>
            <a:endParaRPr lang="it-IT" sz="1700" dirty="0"/>
          </a:p>
        </p:txBody>
      </p:sp>
      <p:sp>
        <p:nvSpPr>
          <p:cNvPr id="23" name="Text 14"/>
          <p:cNvSpPr txBox="1"/>
          <p:nvPr/>
        </p:nvSpPr>
        <p:spPr>
          <a:xfrm>
            <a:off x="7772400" y="3776472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it-IT" altLang="en-US" sz="13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errori compaiono mentre scrivi, usando solo il CSS.</a:t>
            </a:r>
            <a:endParaRPr lang="it-IT" sz="1300" dirty="0"/>
          </a:p>
        </p:txBody>
      </p:sp>
      <p:sp>
        <p:nvSpPr>
          <p:cNvPr id="24" name="Shape 15"/>
          <p:cNvSpPr/>
          <p:nvPr/>
        </p:nvSpPr>
        <p:spPr>
          <a:xfrm>
            <a:off x="6995160" y="4754880"/>
            <a:ext cx="566928" cy="566928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25" name="Image 7" descr="C:\Users\mike2\AppData\Local\Temp\claude\C--Users-mike2-Desktop-Progetto-HTML-CSS\af47ebcf-3447-46c2-8265-3012f55f80d0\scratchpad\deck\assets\ico-print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1223" y="4890943"/>
            <a:ext cx="294803" cy="294803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772400" y="473659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7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 CV pronto da stampare</a:t>
            </a:r>
            <a:endParaRPr lang="it-IT" sz="1700" dirty="0"/>
          </a:p>
        </p:txBody>
      </p:sp>
      <p:sp>
        <p:nvSpPr>
          <p:cNvPr id="27" name="Text 17"/>
          <p:cNvSpPr txBox="1"/>
          <p:nvPr/>
        </p:nvSpPr>
        <p:spPr>
          <a:xfrm>
            <a:off x="7772400" y="5102352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it-IT" altLang="en-US" sz="13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Ctrl+P la pagina diventa un PDF pulito, senza menu né piè di pagina.</a:t>
            </a:r>
            <a:endParaRPr lang="it-IT" sz="1300" dirty="0"/>
          </a:p>
        </p:txBody>
      </p:sp>
      <p:sp>
        <p:nvSpPr>
          <p:cNvPr id="28" name="Text 18"/>
          <p:cNvSpPr txBox="1"/>
          <p:nvPr/>
        </p:nvSpPr>
        <p:spPr>
          <a:xfrm>
            <a:off x="10680192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it-IT" altLang="en-US" sz="10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it-IT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b="1" spc="300" kern="0" dirty="0">
                <a:solidFill>
                  <a:srgbClr val="93A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it-IT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04672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3600" b="1" dirty="0">
                <a:solidFill>
                  <a:srgbClr val="ECE4F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Pensato prima per il telefono</a:t>
            </a:r>
            <a:endParaRPr lang="it-IT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28600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it-IT" altLang="en-US" sz="1500" dirty="0">
                <a:solidFill>
                  <a:srgbClr val="EC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layout parte dallo schermo piccolo e si allarga: una colonna sul telefono, due o tre sul computer.</a:t>
            </a:r>
            <a:endParaRPr lang="it-IT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749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4000" b="1" dirty="0">
                <a:solidFill>
                  <a:srgbClr val="BFA6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320 → 1440</a:t>
            </a:r>
            <a:endParaRPr lang="it-IT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4622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it-IT" altLang="en-US" sz="1300" dirty="0">
                <a:solidFill>
                  <a:srgbClr val="93A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di larghezza, senza mai dover scorrere di lato. Verificato su cinque larghezze.</a:t>
            </a:r>
            <a:endParaRPr lang="it-IT" sz="1300" dirty="0"/>
          </a:p>
        </p:txBody>
      </p:sp>
      <p:pic>
        <p:nvPicPr>
          <p:cNvPr id="7" name="Image 0" descr="La home sul telef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280160"/>
            <a:ext cx="2487168" cy="4678565"/>
          </a:xfrm>
          <a:prstGeom prst="rect">
            <a:avLst/>
          </a:prstGeom>
        </p:spPr>
      </p:pic>
      <p:pic>
        <p:nvPicPr>
          <p:cNvPr id="8" name="Image 1" descr="Il menu aperto sul telefo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777240"/>
            <a:ext cx="2487168" cy="4678565"/>
          </a:xfrm>
          <a:prstGeom prst="rect">
            <a:avLst/>
          </a:prstGeom>
        </p:spPr>
      </p:pic>
      <p:pic>
        <p:nvPicPr>
          <p:cNvPr id="9" name="Image 2" descr="Il curriculum sul telefono, tema scur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280160"/>
            <a:ext cx="2487168" cy="467856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680192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it-IT" altLang="en-US" sz="1000" dirty="0">
                <a:solidFill>
                  <a:srgbClr val="93A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it-IT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ACCESSIBILITÀ</a:t>
            </a:r>
            <a:endParaRPr lang="it-IT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36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Leggibile da tutti, in entrambi i temi</a:t>
            </a:r>
            <a:endParaRPr lang="it-IT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5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misurato il contrasto di ogni coppia di testo e sfondo. Le linee guida WCAG chiedono almeno 4.5:1 per il testo normale.</a:t>
            </a:r>
            <a:endParaRPr lang="it-IT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3453384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41832" y="2514600"/>
            <a:ext cx="2813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4600" b="1" dirty="0">
                <a:solidFill>
                  <a:srgbClr val="384F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10.4:1</a:t>
            </a:r>
            <a:endParaRPr lang="it-IT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3429000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400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 principale, tema chiaro</a:t>
            </a:r>
            <a:endParaRPr lang="it-IT" sz="1400" dirty="0"/>
          </a:p>
        </p:txBody>
      </p:sp>
      <p:sp>
        <p:nvSpPr>
          <p:cNvPr id="8" name="Shape 6"/>
          <p:cNvSpPr/>
          <p:nvPr/>
        </p:nvSpPr>
        <p:spPr>
          <a:xfrm>
            <a:off x="4367784" y="2240280"/>
            <a:ext cx="3453384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15256" y="2514600"/>
            <a:ext cx="2813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4600" b="1" dirty="0">
                <a:solidFill>
                  <a:srgbClr val="384F9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13.1:1</a:t>
            </a:r>
            <a:endParaRPr lang="it-IT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4715256" y="3429000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400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 principale, tema scuro</a:t>
            </a:r>
            <a:endParaRPr lang="it-IT" sz="1400" dirty="0"/>
          </a:p>
        </p:txBody>
      </p:sp>
      <p:sp>
        <p:nvSpPr>
          <p:cNvPr id="11" name="Shape 9"/>
          <p:cNvSpPr/>
          <p:nvPr/>
        </p:nvSpPr>
        <p:spPr>
          <a:xfrm>
            <a:off x="8141208" y="2240280"/>
            <a:ext cx="3453384" cy="1874520"/>
          </a:xfrm>
          <a:prstGeom prst="roundRect">
            <a:avLst>
              <a:gd name="adj" fmla="val 7805"/>
            </a:avLst>
          </a:prstGeom>
          <a:solidFill>
            <a:srgbClr val="384F95"/>
          </a:solidFill>
          <a:ln w="9525">
            <a:solidFill>
              <a:srgbClr val="384F95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88680" y="2514600"/>
            <a:ext cx="2813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46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4.75:1</a:t>
            </a:r>
            <a:endParaRPr lang="it-IT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8488680" y="3429000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400" dirty="0">
                <a:solidFill>
                  <a:srgbClr val="DBC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valore più basso di tutto il sito</a:t>
            </a:r>
            <a:endParaRPr lang="it-IT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617720"/>
            <a:ext cx="530352" cy="53035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15" name="Image 0" descr="C:\Users\mike2\AppData\Local\Temp\claude\C--Users-mike2-Desktop-Progetto-HTML-CSS\af47ebcf-3447-46c2-8265-3012f55f80d0\scratchpad\deck\assets\ico-key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44" y="4745004"/>
            <a:ext cx="275783" cy="275783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07592" y="4636008"/>
            <a:ext cx="267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4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«salta al contenuto»</a:t>
            </a:r>
            <a:endParaRPr lang="it-IT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307592" y="4956048"/>
            <a:ext cx="2676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chi naviga con la tastiera.</a:t>
            </a:r>
            <a:endParaRPr lang="it-IT" sz="1250" dirty="0"/>
          </a:p>
        </p:txBody>
      </p:sp>
      <p:sp>
        <p:nvSpPr>
          <p:cNvPr id="18" name="Shape 15"/>
          <p:cNvSpPr/>
          <p:nvPr/>
        </p:nvSpPr>
        <p:spPr>
          <a:xfrm>
            <a:off x="4367784" y="4617720"/>
            <a:ext cx="530352" cy="53035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19" name="Image 1" descr="C:\Users\mike2\AppData\Local\Temp\claude\C--Users-mike2-Desktop-Progetto-HTML-CSS\af47ebcf-3447-46c2-8265-3012f55f80d0\scratchpad\deck\assets\ico-accessibi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068" y="4745004"/>
            <a:ext cx="275783" cy="27578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081016" y="4636008"/>
            <a:ext cx="267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4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Etichette per gli screen reader</a:t>
            </a:r>
            <a:endParaRPr lang="it-IT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081016" y="4956048"/>
            <a:ext cx="2676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menu, icone e interruttore del tema.</a:t>
            </a:r>
            <a:endParaRPr lang="it-IT" sz="1250" dirty="0"/>
          </a:p>
        </p:txBody>
      </p:sp>
      <p:sp>
        <p:nvSpPr>
          <p:cNvPr id="22" name="Shape 18"/>
          <p:cNvSpPr/>
          <p:nvPr/>
        </p:nvSpPr>
        <p:spPr>
          <a:xfrm>
            <a:off x="8141208" y="4617720"/>
            <a:ext cx="530352" cy="53035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23" name="Image 2" descr="C:\Users\mike2\AppData\Local\Temp\claude\C--Users-mike2-Desktop-Progetto-HTML-CSS\af47ebcf-3447-46c2-8265-3012f55f80d0\scratchpad\deck\assets\ico-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492" y="4745004"/>
            <a:ext cx="275783" cy="275783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854440" y="4636008"/>
            <a:ext cx="267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400" b="1" dirty="0">
                <a:solidFill>
                  <a:srgbClr val="20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Animazioni rispettose</a:t>
            </a:r>
            <a:endParaRPr lang="it-IT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854440" y="4956048"/>
            <a:ext cx="2676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fermano se il sistema chiede di ridurle.</a:t>
            </a:r>
            <a:endParaRPr lang="it-IT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10680192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it-IT" altLang="en-US" sz="10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it-IT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TECNOLOGIE</a:t>
            </a:r>
            <a:endParaRPr lang="it-IT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36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Cosa c'è sotto</a:t>
            </a:r>
            <a:endParaRPr lang="it-IT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291840" cy="4343400"/>
          </a:xfrm>
          <a:prstGeom prst="roundRect">
            <a:avLst>
              <a:gd name="adj" fmla="val 4444"/>
            </a:avLst>
          </a:prstGeom>
          <a:solidFill>
            <a:srgbClr val="162039"/>
          </a:solidFill>
          <a:ln w="9525">
            <a:solidFill>
              <a:srgbClr val="162039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0" b="1" dirty="0">
                <a:solidFill>
                  <a:srgbClr val="BFA6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</a:t>
            </a:r>
            <a:endParaRPr lang="it-IT" sz="13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794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800" b="1" dirty="0">
                <a:solidFill>
                  <a:srgbClr val="ECE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di JavaScript</a:t>
            </a:r>
            <a:endParaRPr lang="it-IT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2976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it-IT" altLang="en-US" sz="1250" dirty="0">
                <a:solidFill>
                  <a:srgbClr val="93A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mobile, tema scuro, onde e validazione del modulo: tutto in HTML e CSS.</a:t>
            </a:r>
            <a:endParaRPr lang="it-IT" sz="1250" dirty="0"/>
          </a:p>
        </p:txBody>
      </p:sp>
      <p:sp>
        <p:nvSpPr>
          <p:cNvPr id="8" name="Shape 6"/>
          <p:cNvSpPr/>
          <p:nvPr/>
        </p:nvSpPr>
        <p:spPr>
          <a:xfrm>
            <a:off x="4206240" y="1783080"/>
            <a:ext cx="3557016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2148840"/>
            <a:ext cx="530352" cy="53035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10" name="Image 0" descr="C:\Users\mike2\AppData\Local\Temp\claude\C--Users-mike2-Desktop-Progetto-HTML-CSS\af47ebcf-3447-46c2-8265-3012f55f80d0\scratchpad\deck\assets\ico-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7844" y="2276124"/>
            <a:ext cx="275783" cy="27578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193792" y="2039112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7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HTML5</a:t>
            </a:r>
            <a:endParaRPr lang="it-IT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193792" y="242316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pagine con markup semantico</a:t>
            </a:r>
            <a:endParaRPr lang="it-IT" sz="1250" dirty="0"/>
          </a:p>
        </p:txBody>
      </p:sp>
      <p:sp>
        <p:nvSpPr>
          <p:cNvPr id="13" name="Shape 10"/>
          <p:cNvSpPr/>
          <p:nvPr/>
        </p:nvSpPr>
        <p:spPr>
          <a:xfrm>
            <a:off x="8037576" y="1783080"/>
            <a:ext cx="3557016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11896" y="2148840"/>
            <a:ext cx="530352" cy="53035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15" name="Image 1" descr="C:\Users\mike2\AppData\Local\Temp\claude\C--Users-mike2-Desktop-Progetto-HTML-CSS\af47ebcf-3447-46c2-8265-3012f55f80d0\scratchpad\deck\assets\ico-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180" y="2276124"/>
            <a:ext cx="275783" cy="27578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025128" y="2039112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7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Sass</a:t>
            </a:r>
            <a:endParaRPr lang="it-IT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9025128" y="242316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file divisi in 6 cartelle</a:t>
            </a:r>
            <a:endParaRPr lang="it-IT" sz="1250" dirty="0"/>
          </a:p>
        </p:txBody>
      </p:sp>
      <p:sp>
        <p:nvSpPr>
          <p:cNvPr id="18" name="Shape 14"/>
          <p:cNvSpPr/>
          <p:nvPr/>
        </p:nvSpPr>
        <p:spPr>
          <a:xfrm>
            <a:off x="4206240" y="3323844"/>
            <a:ext cx="3557016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480560" y="3689604"/>
            <a:ext cx="530352" cy="53035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20" name="Image 2" descr="C:\Users\mike2\AppData\Local\Temp\claude\C--Users-mike2-Desktop-Progetto-HTML-CSS\af47ebcf-3447-46c2-8265-3012f55f80d0\scratchpad\deck\assets\ico-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844" y="3816888"/>
            <a:ext cx="275783" cy="27578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193792" y="3579876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7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Bootstrap 5.3</a:t>
            </a:r>
            <a:endParaRPr lang="it-IT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5193792" y="3963924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Griglia, menu sticky e utility</a:t>
            </a:r>
            <a:endParaRPr lang="it-IT" sz="1250" dirty="0"/>
          </a:p>
        </p:txBody>
      </p:sp>
      <p:sp>
        <p:nvSpPr>
          <p:cNvPr id="23" name="Shape 18"/>
          <p:cNvSpPr/>
          <p:nvPr/>
        </p:nvSpPr>
        <p:spPr>
          <a:xfrm>
            <a:off x="8037576" y="3323844"/>
            <a:ext cx="3557016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311896" y="3689604"/>
            <a:ext cx="530352" cy="53035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25" name="Image 3" descr="C:\Users\mike2\AppData\Local\Temp\claude\C--Users-mike2-Desktop-Progetto-HTML-CSS\af47ebcf-3447-46c2-8265-3012f55f80d0\scratchpad\deck\assets\ico-pane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180" y="3816888"/>
            <a:ext cx="275783" cy="27578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025128" y="3579876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7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Grid e Flexbox</a:t>
            </a:r>
            <a:endParaRPr lang="it-IT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9025128" y="3963924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layout delle pagine</a:t>
            </a:r>
            <a:endParaRPr lang="it-IT" sz="1250" dirty="0"/>
          </a:p>
        </p:txBody>
      </p:sp>
      <p:sp>
        <p:nvSpPr>
          <p:cNvPr id="28" name="Shape 22"/>
          <p:cNvSpPr/>
          <p:nvPr/>
        </p:nvSpPr>
        <p:spPr>
          <a:xfrm>
            <a:off x="4206240" y="4864608"/>
            <a:ext cx="3557016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80560" y="5230368"/>
            <a:ext cx="530352" cy="53035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30" name="Image 4" descr="C:\Users\mike2\AppData\Local\Temp\claude\C--Users-mike2-Desktop-Progetto-HTML-CSS\af47ebcf-3447-46c2-8265-3012f55f80d0\scratchpad\deck\assets\ico-typ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844" y="5357652"/>
            <a:ext cx="275783" cy="27578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193792" y="5120640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7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Google Fonts</a:t>
            </a:r>
            <a:endParaRPr lang="it-IT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5193792" y="550468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per i titoli, Inter per i testi</a:t>
            </a:r>
            <a:endParaRPr lang="it-IT" sz="1250" dirty="0"/>
          </a:p>
        </p:txBody>
      </p:sp>
      <p:sp>
        <p:nvSpPr>
          <p:cNvPr id="33" name="Shape 26"/>
          <p:cNvSpPr/>
          <p:nvPr/>
        </p:nvSpPr>
        <p:spPr>
          <a:xfrm>
            <a:off x="8037576" y="4864608"/>
            <a:ext cx="3557016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311896" y="5230368"/>
            <a:ext cx="530352" cy="530352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35" name="Image 5" descr="C:\Users\mike2\AppData\Local\Temp\claude\C--Users-mike2-Desktop-Progetto-HTML-CSS\af47ebcf-3447-46c2-8265-3012f55f80d0\scratchpad\deck\assets\ico-se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180" y="5357652"/>
            <a:ext cx="275783" cy="275783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025128" y="5120640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7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GitHub Pages</a:t>
            </a:r>
            <a:endParaRPr lang="it-IT" sz="1700" dirty="0"/>
          </a:p>
        </p:txBody>
      </p:sp>
      <p:sp>
        <p:nvSpPr>
          <p:cNvPr id="37" name="Text 29"/>
          <p:cNvSpPr txBox="1"/>
          <p:nvPr/>
        </p:nvSpPr>
        <p:spPr>
          <a:xfrm>
            <a:off x="9025128" y="550468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5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pubblicazione del sito, gratis</a:t>
            </a:r>
            <a:endParaRPr lang="it-IT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10680192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it-IT" altLang="en-US" sz="10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it-IT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HO IMPARATO</a:t>
            </a:r>
            <a:endParaRPr lang="it-IT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36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Tre problemi, tre lezioni</a:t>
            </a:r>
            <a:endParaRPr lang="it-IT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453384" cy="388620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084832"/>
            <a:ext cx="594360" cy="594360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6" name="Image 0" descr="C:\Users\mike2\AppData\Local\Temp\claude\C--Users-mike2-Desktop-Progetto-HTML-CSS\af47ebcf-3447-46c2-8265-3012f55f80d0\scratchpad\deck\assets\ico-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2227478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41832" y="2907792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it-IT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1832" y="3182112"/>
            <a:ext cx="275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it-IT" altLang="en-US" sz="18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Una linea verticale tagliava il testo del CV</a:t>
            </a:r>
            <a:endParaRPr lang="it-IT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41832" y="4297680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</a:t>
            </a:r>
            <a:endParaRPr lang="it-IT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41832" y="4572000"/>
            <a:ext cx="2758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it-IT" altLang="en-US" sz="13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regola di base più «forte» del previsto annullava lo spazio a sinistra. Con :where() le ho tolto priorità.</a:t>
            </a:r>
            <a:endParaRPr lang="it-IT" sz="1300" dirty="0"/>
          </a:p>
        </p:txBody>
      </p:sp>
      <p:sp>
        <p:nvSpPr>
          <p:cNvPr id="11" name="Shape 8"/>
          <p:cNvSpPr/>
          <p:nvPr/>
        </p:nvSpPr>
        <p:spPr>
          <a:xfrm>
            <a:off x="4367784" y="1737360"/>
            <a:ext cx="3453384" cy="388620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15256" y="2084832"/>
            <a:ext cx="594360" cy="594360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13" name="Image 1" descr="C:\Users\mike2\AppData\Local\Temp\claude\C--Users-mike2-Desktop-Progetto-HTML-CSS\af47ebcf-3447-46c2-8265-3012f55f80d0\scratchpad\deck\assets\ico-contra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902" y="2227478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15256" y="2907792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it-IT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715256" y="3182112"/>
            <a:ext cx="275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it-IT" altLang="en-US" sz="18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Testo poco leggibile sulle fasce lilla</a:t>
            </a:r>
            <a:endParaRPr lang="it-IT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715256" y="4297680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</a:t>
            </a:r>
            <a:endParaRPr lang="it-IT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715256" y="4572000"/>
            <a:ext cx="2758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it-IT" altLang="en-US" sz="13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didascalie scendevano a 3.9:1. Ho misurato il contrasto e scurito la tinta fino a 4.75:1.</a:t>
            </a:r>
            <a:endParaRPr lang="it-IT" sz="1300" dirty="0"/>
          </a:p>
        </p:txBody>
      </p:sp>
      <p:sp>
        <p:nvSpPr>
          <p:cNvPr id="18" name="Shape 14"/>
          <p:cNvSpPr/>
          <p:nvPr/>
        </p:nvSpPr>
        <p:spPr>
          <a:xfrm>
            <a:off x="8141208" y="1737360"/>
            <a:ext cx="3453384" cy="388620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9525">
            <a:solidFill>
              <a:srgbClr val="DAE2F7"/>
            </a:solidFill>
            <a:prstDash val="solid"/>
          </a:ln>
          <a:effectLst>
            <a:outerShdw sx="100000" sy="100000" kx="0" ky="0" algn="bl" rotWithShape="0" blurRad="152400" dist="38100" dir="5400000">
              <a:srgbClr val="203B7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88680" y="2084832"/>
            <a:ext cx="594360" cy="594360"/>
          </a:xfrm>
          <a:prstGeom prst="ellipse">
            <a:avLst/>
          </a:prstGeom>
          <a:solidFill>
            <a:srgbClr val="EFE7FC"/>
          </a:solidFill>
          <a:ln w="6350">
            <a:solidFill>
              <a:srgbClr val="EFE7FC"/>
            </a:solidFill>
            <a:prstDash val="solid"/>
          </a:ln>
        </p:spPr>
      </p:sp>
      <p:pic>
        <p:nvPicPr>
          <p:cNvPr id="20" name="Image 2" descr="C:\Users\mike2\AppData\Local\Temp\claude\C--Users-mike2-Desktop-Progetto-HTML-CSS\af47ebcf-3447-46c2-8265-3012f55f80d0\scratchpad\deck\assets\ico-palet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326" y="2227478"/>
            <a:ext cx="309067" cy="30906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88680" y="2907792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it-IT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488680" y="3182112"/>
            <a:ext cx="275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it-IT" altLang="en-US" sz="18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Testo bianco su lavanda nel tema scuro</a:t>
            </a:r>
            <a:endParaRPr lang="it-IT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8488680" y="4297680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1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</a:t>
            </a:r>
            <a:endParaRPr lang="it-IT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488680" y="4572000"/>
            <a:ext cx="2758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it-IT" altLang="en-US" sz="13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buio i bottoni diventano chiari. Un colore dedicato al testo sopra i bottoni ora cambia con il tema.</a:t>
            </a:r>
            <a:endParaRPr lang="it-IT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10680192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it-IT" altLang="en-US" sz="10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it-IT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b="1" spc="300" kern="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PROSSIMI PASSI</a:t>
            </a:r>
            <a:endParaRPr lang="it-IT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0467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36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Cosa manca prima di pubblicarlo</a:t>
            </a:r>
            <a:endParaRPr lang="it-IT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512064" cy="512064"/>
          </a:xfrm>
          <a:prstGeom prst="ellipse">
            <a:avLst/>
          </a:prstGeom>
          <a:solidFill>
            <a:srgbClr val="384F95"/>
          </a:solidFill>
          <a:ln w="12700">
            <a:solidFill>
              <a:srgbClr val="384F9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it-IT" altLang="en-US" sz="17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it-IT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01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8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foto e i quattro progetti</a:t>
            </a:r>
            <a:endParaRPr lang="it-IT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schede sono pronte, aspettano i contenuti.</a:t>
            </a:r>
            <a:endParaRPr lang="it-IT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889504"/>
            <a:ext cx="512064" cy="512064"/>
          </a:xfrm>
          <a:prstGeom prst="ellipse">
            <a:avLst/>
          </a:prstGeom>
          <a:solidFill>
            <a:srgbClr val="384F95"/>
          </a:solidFill>
          <a:ln w="12700">
            <a:solidFill>
              <a:srgbClr val="384F9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889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it-IT" altLang="en-US" sz="17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it-IT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8803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8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Collegare il modulo</a:t>
            </a:r>
            <a:endParaRPr lang="it-IT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552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Formspree i messaggi arriveranno via email.</a:t>
            </a:r>
            <a:endParaRPr lang="it-IT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968496"/>
            <a:ext cx="512064" cy="512064"/>
          </a:xfrm>
          <a:prstGeom prst="ellipse">
            <a:avLst/>
          </a:prstGeom>
          <a:solidFill>
            <a:srgbClr val="384F95"/>
          </a:solidFill>
          <a:ln w="12700">
            <a:solidFill>
              <a:srgbClr val="384F9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968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it-IT" altLang="en-US" sz="17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it-IT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593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8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Pubblicare il sito</a:t>
            </a:r>
            <a:endParaRPr lang="it-IT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3342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GitHub Pages, gratis, con un indirizzo vero.</a:t>
            </a:r>
            <a:endParaRPr lang="it-IT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5047488"/>
            <a:ext cx="512064" cy="512064"/>
          </a:xfrm>
          <a:prstGeom prst="ellipse">
            <a:avLst/>
          </a:prstGeom>
          <a:solidFill>
            <a:srgbClr val="384F95"/>
          </a:solidFill>
          <a:ln w="12700">
            <a:solidFill>
              <a:srgbClr val="384F9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5047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it-IT" altLang="en-US" sz="17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it-IT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03834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800" b="1" dirty="0">
                <a:solidFill>
                  <a:srgbClr val="203B7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Aprire i profili</a:t>
            </a:r>
            <a:endParaRPr lang="it-IT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413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300" dirty="0">
                <a:solidFill>
                  <a:srgbClr val="38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e GitHub sono già predisposti nel codice.</a:t>
            </a:r>
            <a:endParaRPr lang="it-IT" sz="1300" dirty="0"/>
          </a:p>
        </p:txBody>
      </p:sp>
      <p:pic>
        <p:nvPicPr>
          <p:cNvPr id="20" name="Image 0" descr="La pagina progetti con le schede ancora da riemp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554480"/>
            <a:ext cx="5897880" cy="404716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217920" y="5715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200" i="1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pagina progetti oggi: la struttura c'è, i contenuti arriveranno.</a:t>
            </a:r>
            <a:endParaRPr lang="it-IT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680192" y="6419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it-IT" altLang="en-US" sz="1000" dirty="0">
                <a:solidFill>
                  <a:srgbClr val="5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it-IT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ike2\AppData\Local\Temp\claude\C--Users-mike2-Desktop-Progetto-HTML-CSS\af47ebcf-3447-46c2-8265-3012f55f80d0\scratchpad\deck\assets\onda-sc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327"/>
            <a:ext cx="12191695" cy="164567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16002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7200" b="1" dirty="0">
                <a:solidFill>
                  <a:srgbClr val="ECE4F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Grazie</a:t>
            </a:r>
            <a:endParaRPr lang="it-IT" sz="72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2926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it-IT" altLang="en-US" sz="2000" dirty="0">
                <a:solidFill>
                  <a:srgbClr val="BFA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Domande, idee e critiche sono benvenute.</a:t>
            </a:r>
            <a:endParaRPr lang="it-IT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3611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it-IT" altLang="en-US" sz="1400" dirty="0">
                <a:solidFill>
                  <a:srgbClr val="93A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Marianita Di Leo · UX/UI designer · Oria</a:t>
            </a:r>
            <a:endParaRPr lang="it-IT" sz="1400" dirty="0"/>
          </a:p>
        </p:txBody>
      </p:sp>
      <p:pic>
        <p:nvPicPr>
          <p:cNvPr id="6" name="Image 1" descr="La pagina contatti nel tema scu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640080"/>
            <a:ext cx="6080760" cy="4172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 mio portfolio, dall'idea al sito</dc:title>
  <dc:subject>PptxGenJS Presentation</dc:subject>
  <dc:creator>Marianita Di Leo</dc:creator>
  <cp:lastModifiedBy>Marianita Di Leo</cp:lastModifiedBy>
  <cp:revision>1</cp:revision>
  <dcterms:created xsi:type="dcterms:W3CDTF">2026-10-01T09:56:04Z</dcterms:created>
  <dcterms:modified xsi:type="dcterms:W3CDTF">2026-10-01T09:56:04Z</dcterms:modified>
</cp:coreProperties>
</file>